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3" r:id="rId7"/>
    <p:sldId id="262" r:id="rId8"/>
    <p:sldId id="264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486C"/>
    <a:srgbClr val="325082"/>
    <a:srgbClr val="2F4858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F61F09-3C61-4B03-9E93-A834F70621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5736DB-333F-48A3-891E-163D39AF3C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BD0AAED-219B-4D8A-8076-E54D09ED6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F8152-7606-45DE-B75A-1C82E02CDDAE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E30566C-F1D0-4CBB-928F-12023B56B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75BBAC2-66F6-4977-B92F-862D7ED7B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A28A2-F201-4859-9231-F27FF45FCE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1920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A3FD64-A1F3-4D19-B733-2E96B5C0F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95ECB2-2D26-4809-82EA-DB1DE03F6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3290A47-3066-4DE5-B42F-C19F63E79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F8152-7606-45DE-B75A-1C82E02CDDAE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5A5A41A-C37A-4C2F-8A0B-1E7863036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02E3B0E-908D-4099-850F-5E9326826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A28A2-F201-4859-9231-F27FF45FCE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9770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48E044-18B9-4B81-824C-6CC67FC4A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40DAEE8-78E6-4163-B006-20038C693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E52CE3F-BA90-4A53-9AB2-597E6D67E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F8152-7606-45DE-B75A-1C82E02CDDAE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35E8105-FEB9-4093-ACAC-F7A806C90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436EB31-CBB3-4AF3-B506-9304EB0AF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A28A2-F201-4859-9231-F27FF45FCE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5590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71E83A-9482-4C64-B5C2-ACBA22624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B6DDB4-17B4-4F54-A3FC-16163F4BFF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430DAB8-BC14-4B19-B1F6-E023A410D0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7F597D-FA4F-4569-9CD0-6AE8A02F7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F8152-7606-45DE-B75A-1C82E02CDDAE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A377ACF-EE95-4928-AABF-3B63B6E49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CC9E404-0C3A-4A06-88AF-A415FE634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A28A2-F201-4859-9231-F27FF45FCE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4918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13A55D-666B-4229-B849-08E35C0F6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C3A7ED3-41FD-4703-9AAE-E60D10E11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3EBC5C3-0BCA-46E5-A711-41F089DC02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0725EC9-1B73-4C57-96F2-DEAD3B800B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85750F4-D847-40B9-9BA0-5018C084DB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79B34D2-BB7C-4B07-A3B2-E3F444030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F8152-7606-45DE-B75A-1C82E02CDDAE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B363374-669C-4494-86A9-58B354ACC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DFFAD1B-DD3F-46D3-959C-5CBFE50D2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A28A2-F201-4859-9231-F27FF45FCE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8802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F59CB-A186-4701-9BC5-EF70707CE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32AA713-B81C-41B7-B3F0-23715AA57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F8152-7606-45DE-B75A-1C82E02CDDAE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2F3E81F-CBBD-4DC3-91F8-6B71BA43F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432AEA-0A8A-4A65-95EF-5C36D5D3B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A28A2-F201-4859-9231-F27FF45FCE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2862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91D398F-661A-410E-8ED0-D78D33E0F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F8152-7606-45DE-B75A-1C82E02CDDAE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0D21327-41D2-4C7A-8518-FFDF6B110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46A8A8E-AA11-4741-B084-45E5B0BC1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A28A2-F201-4859-9231-F27FF45FCE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4027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4C9455-E836-471D-B330-7138F5A3A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DEF32D-6558-4EA8-A5D2-92988577B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24804EE-EAA9-4650-959A-3EA891F171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7DCC5EE-0789-4E6E-92F6-A33317D6B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F8152-7606-45DE-B75A-1C82E02CDDAE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B83705F-825C-4633-A80E-BA19A3036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730A939-914A-4B91-898C-CF1FD1AE3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A28A2-F201-4859-9231-F27FF45FCE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5557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F84C8D-5D73-40EA-A373-3C032F564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E59E152-CE28-44D1-B0E2-CD254FAA33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E10EFD6-6C34-4292-B9B6-5644D62EE9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F58EE23-1468-40A1-8A30-A06896E1C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F8152-7606-45DE-B75A-1C82E02CDDAE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CE69EFF-9455-46C0-A8A1-1F8D8E2C4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A42C402-DC08-4E6A-8EC5-A919FCAE7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A28A2-F201-4859-9231-F27FF45FCE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8258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B5A5E7-9B5B-4B47-BD31-B80C8802F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8459707-C4C0-4471-ACDE-247ECD2F97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8669048-9AA0-4AF5-AD0C-B78AF78BE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F8152-7606-45DE-B75A-1C82E02CDDAE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F4033D-7A8C-4BB4-8958-862D0366C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144240-B491-425F-AE21-7E665CA14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A28A2-F201-4859-9231-F27FF45FCE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6783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0A15FA8-A1C0-4456-8B61-5D37927316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A844366-376E-45D1-B3E4-05D1C5A73F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258967F-7870-48A9-B996-0DF201C8C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F8152-7606-45DE-B75A-1C82E02CDDAE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B1A3A79-261C-4219-8DAD-C85D89E4A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0E4E00-4675-4B58-90B8-FA08B966B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A28A2-F201-4859-9231-F27FF45FCE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5716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BBFA794-505B-49EE-8281-441429181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09C038D-C4D9-4C3C-94FE-998CD40F1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45C7A0D-609E-41A8-BC18-19BE5220A4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1F8152-7606-45DE-B75A-1C82E02CDDAE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5960E45-34D2-4037-A472-3FDC49444D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D9E435-BFE8-432D-A8D8-FF9A91A43B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EA28A2-F201-4859-9231-F27FF45FCE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8975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48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4493FB20-4074-4104-A527-F35848ABF689}"/>
              </a:ext>
            </a:extLst>
          </p:cNvPr>
          <p:cNvSpPr/>
          <p:nvPr/>
        </p:nvSpPr>
        <p:spPr>
          <a:xfrm>
            <a:off x="1379375" y="2780522"/>
            <a:ext cx="9433249" cy="1296955"/>
          </a:xfrm>
          <a:prstGeom prst="roundRect">
            <a:avLst/>
          </a:prstGeom>
          <a:solidFill>
            <a:srgbClr val="21486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/>
              <a:t>Sistema de Identificação de KYC</a:t>
            </a:r>
          </a:p>
        </p:txBody>
      </p:sp>
    </p:spTree>
    <p:extLst>
      <p:ext uri="{BB962C8B-B14F-4D97-AF65-F5344CB8AC3E}">
        <p14:creationId xmlns:p14="http://schemas.microsoft.com/office/powerpoint/2010/main" val="3977872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48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4493FB20-4074-4104-A527-F35848ABF689}"/>
              </a:ext>
            </a:extLst>
          </p:cNvPr>
          <p:cNvSpPr/>
          <p:nvPr/>
        </p:nvSpPr>
        <p:spPr>
          <a:xfrm>
            <a:off x="1379374" y="419877"/>
            <a:ext cx="9433249" cy="1296955"/>
          </a:xfrm>
          <a:prstGeom prst="roundRect">
            <a:avLst/>
          </a:prstGeom>
          <a:solidFill>
            <a:srgbClr val="21486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/>
              <a:t>Sistema de Identificação de KYC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78EB284-7126-49CE-B861-9ED03D3BA762}"/>
              </a:ext>
            </a:extLst>
          </p:cNvPr>
          <p:cNvSpPr txBox="1"/>
          <p:nvPr/>
        </p:nvSpPr>
        <p:spPr>
          <a:xfrm>
            <a:off x="1444689" y="3312367"/>
            <a:ext cx="936793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solidFill>
                  <a:schemeClr val="bg1"/>
                </a:solidFill>
              </a:rPr>
              <a:t>Sistema que integra o cadastro de usuários com o perfil de investidor, oferecendo gerenciamento eficiente através de uma interface moderna desenvolvida em Python.</a:t>
            </a:r>
          </a:p>
        </p:txBody>
      </p:sp>
    </p:spTree>
    <p:extLst>
      <p:ext uri="{BB962C8B-B14F-4D97-AF65-F5344CB8AC3E}">
        <p14:creationId xmlns:p14="http://schemas.microsoft.com/office/powerpoint/2010/main" val="2946967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48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4493FB20-4074-4104-A527-F35848ABF689}"/>
              </a:ext>
            </a:extLst>
          </p:cNvPr>
          <p:cNvSpPr/>
          <p:nvPr/>
        </p:nvSpPr>
        <p:spPr>
          <a:xfrm>
            <a:off x="1379374" y="419877"/>
            <a:ext cx="9433249" cy="1296955"/>
          </a:xfrm>
          <a:prstGeom prst="roundRect">
            <a:avLst/>
          </a:prstGeom>
          <a:solidFill>
            <a:srgbClr val="21486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/>
              <a:t>Objetivo do Sistema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23A89BA-AE07-4169-9A6C-95CDD43BDBEF}"/>
              </a:ext>
            </a:extLst>
          </p:cNvPr>
          <p:cNvSpPr txBox="1"/>
          <p:nvPr/>
        </p:nvSpPr>
        <p:spPr>
          <a:xfrm>
            <a:off x="1164771" y="2164702"/>
            <a:ext cx="9862458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>
                <a:solidFill>
                  <a:schemeClr val="bg1"/>
                </a:solidFill>
              </a:rPr>
              <a:t>Problemas que ele resolve</a:t>
            </a:r>
          </a:p>
          <a:p>
            <a:pPr algn="just"/>
            <a:endParaRPr lang="pt-BR" sz="2400" b="1" dirty="0">
              <a:solidFill>
                <a:schemeClr val="bg1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Organiza dados de clientes de forma estruturada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Mantém o histórico de perfis de investidor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Facilita decisões financeiras através de registros atualizados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pt-BR" sz="2400" dirty="0">
              <a:solidFill>
                <a:schemeClr val="bg1"/>
              </a:solidFill>
            </a:endParaRPr>
          </a:p>
          <a:p>
            <a:pPr algn="just"/>
            <a:r>
              <a:rPr lang="pt-BR" sz="2400" b="1" dirty="0">
                <a:solidFill>
                  <a:schemeClr val="bg1"/>
                </a:solidFill>
              </a:rPr>
              <a:t>Objetivo principal</a:t>
            </a:r>
          </a:p>
          <a:p>
            <a:pPr algn="just"/>
            <a:endParaRPr lang="pt-BR" sz="2400" b="1" dirty="0">
              <a:solidFill>
                <a:schemeClr val="bg1"/>
              </a:solidFill>
            </a:endParaRPr>
          </a:p>
          <a:p>
            <a:pPr algn="just"/>
            <a:r>
              <a:rPr lang="pt-BR" sz="2400" dirty="0">
                <a:solidFill>
                  <a:schemeClr val="bg1"/>
                </a:solidFill>
              </a:rPr>
              <a:t>Permitir a identificação e gestão eficiente do KYC (</a:t>
            </a:r>
            <a:r>
              <a:rPr lang="pt-BR" sz="2400" dirty="0" err="1">
                <a:solidFill>
                  <a:schemeClr val="bg1"/>
                </a:solidFill>
              </a:rPr>
              <a:t>Know</a:t>
            </a:r>
            <a:r>
              <a:rPr lang="pt-BR" sz="2400" dirty="0">
                <a:solidFill>
                  <a:schemeClr val="bg1"/>
                </a:solidFill>
              </a:rPr>
              <a:t> </a:t>
            </a:r>
            <a:r>
              <a:rPr lang="pt-BR" sz="2400" dirty="0" err="1">
                <a:solidFill>
                  <a:schemeClr val="bg1"/>
                </a:solidFill>
              </a:rPr>
              <a:t>Your</a:t>
            </a:r>
            <a:r>
              <a:rPr lang="pt-BR" sz="2400" dirty="0">
                <a:solidFill>
                  <a:schemeClr val="bg1"/>
                </a:solidFill>
              </a:rPr>
              <a:t> </a:t>
            </a:r>
            <a:r>
              <a:rPr lang="pt-BR" sz="2400" dirty="0" err="1">
                <a:solidFill>
                  <a:schemeClr val="bg1"/>
                </a:solidFill>
              </a:rPr>
              <a:t>Customer</a:t>
            </a:r>
            <a:r>
              <a:rPr lang="pt-BR" sz="2400" dirty="0">
                <a:solidFill>
                  <a:schemeClr val="bg1"/>
                </a:solidFill>
              </a:rPr>
              <a:t>), cadastrando e monitorando perfis de clientes e investidores de forma segura e rápida.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19295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48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4493FB20-4074-4104-A527-F35848ABF689}"/>
              </a:ext>
            </a:extLst>
          </p:cNvPr>
          <p:cNvSpPr/>
          <p:nvPr/>
        </p:nvSpPr>
        <p:spPr>
          <a:xfrm>
            <a:off x="1379374" y="419877"/>
            <a:ext cx="9433249" cy="1296955"/>
          </a:xfrm>
          <a:prstGeom prst="roundRect">
            <a:avLst/>
          </a:prstGeom>
          <a:solidFill>
            <a:srgbClr val="21486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/>
              <a:t>Requisitos da </a:t>
            </a:r>
            <a:r>
              <a:rPr lang="pt-BR" sz="3600" dirty="0" err="1"/>
              <a:t>Stack</a:t>
            </a:r>
            <a:endParaRPr lang="pt-BR" sz="3600" dirty="0"/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id="{BF897FF1-18A7-4E31-802F-BF74EE7D1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373" y="2000672"/>
            <a:ext cx="4402497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Linguagem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Python 3.10+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Bibliotecas necessárias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sqlite3 (banco de dados)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tkinter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e </a:t>
            </a:r>
            <a:r>
              <a:rPr kumimoji="0" lang="pt-BR" altLang="pt-BR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ttk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(interface)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customtkinter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(interface moderna)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84B148CD-E959-43CC-ADA9-230B3574B8CC}"/>
              </a:ext>
            </a:extLst>
          </p:cNvPr>
          <p:cNvSpPr txBox="1"/>
          <p:nvPr/>
        </p:nvSpPr>
        <p:spPr>
          <a:xfrm>
            <a:off x="6410132" y="1986676"/>
            <a:ext cx="440249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Arquivos do sistema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banco.db</a:t>
            </a: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Códigos Python do CRUD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Ícone .</a:t>
            </a:r>
            <a:r>
              <a:rPr kumimoji="0" lang="pt-BR" altLang="pt-BR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ico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(opcional)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800" b="1" i="0" u="none" strike="noStrike" cap="none" normalizeH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Compatibilidade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Windows / Linux / </a:t>
            </a:r>
            <a:r>
              <a:rPr kumimoji="0" lang="pt-BR" altLang="pt-BR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MacOS</a:t>
            </a:r>
            <a:endParaRPr lang="pt-BR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1993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48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4493FB20-4074-4104-A527-F35848ABF689}"/>
              </a:ext>
            </a:extLst>
          </p:cNvPr>
          <p:cNvSpPr/>
          <p:nvPr/>
        </p:nvSpPr>
        <p:spPr>
          <a:xfrm>
            <a:off x="3255607" y="223935"/>
            <a:ext cx="5680786" cy="839756"/>
          </a:xfrm>
          <a:prstGeom prst="roundRect">
            <a:avLst/>
          </a:prstGeom>
          <a:solidFill>
            <a:srgbClr val="21486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/>
              <a:t>Repositório </a:t>
            </a:r>
            <a:r>
              <a:rPr lang="pt-BR" sz="3600" dirty="0" err="1"/>
              <a:t>Github</a:t>
            </a:r>
            <a:endParaRPr lang="pt-BR" sz="3600" dirty="0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C9C79BAD-6005-4654-8538-10CA0791F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518" y="2365812"/>
            <a:ext cx="5533339" cy="2126375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1FC35078-642A-408D-9FB3-9513683D16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2155" y="1582009"/>
            <a:ext cx="4572327" cy="465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732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48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4493FB20-4074-4104-A527-F35848ABF689}"/>
              </a:ext>
            </a:extLst>
          </p:cNvPr>
          <p:cNvSpPr/>
          <p:nvPr/>
        </p:nvSpPr>
        <p:spPr>
          <a:xfrm>
            <a:off x="3255607" y="223935"/>
            <a:ext cx="5680786" cy="839756"/>
          </a:xfrm>
          <a:prstGeom prst="roundRect">
            <a:avLst/>
          </a:prstGeom>
          <a:solidFill>
            <a:srgbClr val="21486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/>
              <a:t>Aplicação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2B41431-9DF5-4030-A68E-7641C6724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2402" y="1158552"/>
            <a:ext cx="6567196" cy="5606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731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48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4493FB20-4074-4104-A527-F35848ABF689}"/>
              </a:ext>
            </a:extLst>
          </p:cNvPr>
          <p:cNvSpPr/>
          <p:nvPr/>
        </p:nvSpPr>
        <p:spPr>
          <a:xfrm>
            <a:off x="1379374" y="419878"/>
            <a:ext cx="9433249" cy="1119674"/>
          </a:xfrm>
          <a:prstGeom prst="roundRect">
            <a:avLst/>
          </a:prstGeom>
          <a:solidFill>
            <a:srgbClr val="21486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/>
              <a:t>Como o sistema funciona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34D82D9-46C7-4F9C-8416-4C7841CF38E0}"/>
              </a:ext>
            </a:extLst>
          </p:cNvPr>
          <p:cNvSpPr txBox="1"/>
          <p:nvPr/>
        </p:nvSpPr>
        <p:spPr>
          <a:xfrm>
            <a:off x="506961" y="1800809"/>
            <a:ext cx="1117807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1️⃣ Usuário preenche os campos (CPF, nome, </a:t>
            </a:r>
            <a:r>
              <a:rPr lang="pt-BR" sz="2400" dirty="0" err="1">
                <a:solidFill>
                  <a:schemeClr val="bg1"/>
                </a:solidFill>
              </a:rPr>
              <a:t>email</a:t>
            </a:r>
            <a:r>
              <a:rPr lang="pt-BR" sz="2400" dirty="0">
                <a:solidFill>
                  <a:schemeClr val="bg1"/>
                </a:solidFill>
              </a:rPr>
              <a:t>, experiência, objetivo, risco).</a:t>
            </a:r>
          </a:p>
          <a:p>
            <a:endParaRPr lang="pt-BR" sz="2400" dirty="0">
              <a:solidFill>
                <a:schemeClr val="bg1"/>
              </a:solidFill>
            </a:endParaRPr>
          </a:p>
          <a:p>
            <a:r>
              <a:rPr lang="pt-BR" sz="2400" dirty="0">
                <a:solidFill>
                  <a:schemeClr val="bg1"/>
                </a:solidFill>
              </a:rPr>
              <a:t>2️⃣ Clica em SALVAR → registro é gravado no banco </a:t>
            </a:r>
            <a:r>
              <a:rPr lang="pt-BR" sz="2400" dirty="0" err="1">
                <a:solidFill>
                  <a:schemeClr val="bg1"/>
                </a:solidFill>
              </a:rPr>
              <a:t>SQLite</a:t>
            </a:r>
            <a:r>
              <a:rPr lang="pt-BR" sz="2400" dirty="0">
                <a:solidFill>
                  <a:schemeClr val="bg1"/>
                </a:solidFill>
              </a:rPr>
              <a:t>.</a:t>
            </a:r>
          </a:p>
          <a:p>
            <a:endParaRPr lang="pt-BR" sz="2400" dirty="0">
              <a:solidFill>
                <a:schemeClr val="bg1"/>
              </a:solidFill>
            </a:endParaRPr>
          </a:p>
          <a:p>
            <a:r>
              <a:rPr lang="pt-BR" sz="2400" dirty="0">
                <a:solidFill>
                  <a:schemeClr val="bg1"/>
                </a:solidFill>
              </a:rPr>
              <a:t>3️⃣ Dados aparecem automaticamente na tabela.</a:t>
            </a:r>
          </a:p>
          <a:p>
            <a:endParaRPr lang="pt-BR" sz="2400" dirty="0">
              <a:solidFill>
                <a:schemeClr val="bg1"/>
              </a:solidFill>
            </a:endParaRPr>
          </a:p>
          <a:p>
            <a:r>
              <a:rPr lang="pt-BR" sz="2400" dirty="0">
                <a:solidFill>
                  <a:schemeClr val="bg1"/>
                </a:solidFill>
              </a:rPr>
              <a:t>4️⃣ Selecionando um item, é possível:</a:t>
            </a:r>
          </a:p>
          <a:p>
            <a:r>
              <a:rPr lang="pt-BR" sz="2400" dirty="0">
                <a:solidFill>
                  <a:schemeClr val="bg1"/>
                </a:solidFill>
              </a:rPr>
              <a:t>ATUALIZAR → altera os dados</a:t>
            </a:r>
          </a:p>
          <a:p>
            <a:r>
              <a:rPr lang="pt-BR" sz="2400" dirty="0">
                <a:solidFill>
                  <a:schemeClr val="bg1"/>
                </a:solidFill>
              </a:rPr>
              <a:t>DELETAR → remove do banco</a:t>
            </a:r>
          </a:p>
          <a:p>
            <a:endParaRPr lang="pt-BR" sz="2400" dirty="0">
              <a:solidFill>
                <a:schemeClr val="bg1"/>
              </a:solidFill>
            </a:endParaRPr>
          </a:p>
          <a:p>
            <a:r>
              <a:rPr lang="pt-BR" sz="2400" dirty="0">
                <a:solidFill>
                  <a:schemeClr val="bg1"/>
                </a:solidFill>
              </a:rPr>
              <a:t>5️⃣ Tudo é exibido no </a:t>
            </a:r>
            <a:r>
              <a:rPr lang="pt-BR" sz="2400" dirty="0" err="1">
                <a:solidFill>
                  <a:schemeClr val="bg1"/>
                </a:solidFill>
              </a:rPr>
              <a:t>Treeview</a:t>
            </a:r>
            <a:r>
              <a:rPr lang="pt-BR" sz="2400" dirty="0">
                <a:solidFill>
                  <a:schemeClr val="bg1"/>
                </a:solidFill>
              </a:rPr>
              <a:t>, mantendo visual organizado.</a:t>
            </a:r>
          </a:p>
          <a:p>
            <a:endParaRPr lang="pt-BR" sz="2400" dirty="0">
              <a:solidFill>
                <a:schemeClr val="bg1"/>
              </a:solidFill>
            </a:endParaRPr>
          </a:p>
          <a:p>
            <a:r>
              <a:rPr lang="pt-BR" sz="2400" dirty="0">
                <a:solidFill>
                  <a:schemeClr val="bg1"/>
                </a:solidFill>
              </a:rPr>
              <a:t>6️⃣ Persistência garantida no arquivo </a:t>
            </a:r>
            <a:r>
              <a:rPr lang="pt-BR" sz="2400" dirty="0" err="1">
                <a:solidFill>
                  <a:schemeClr val="bg1"/>
                </a:solidFill>
              </a:rPr>
              <a:t>banco.db</a:t>
            </a:r>
            <a:r>
              <a:rPr lang="pt-BR" sz="24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83230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48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4493FB20-4074-4104-A527-F35848ABF689}"/>
              </a:ext>
            </a:extLst>
          </p:cNvPr>
          <p:cNvSpPr/>
          <p:nvPr/>
        </p:nvSpPr>
        <p:spPr>
          <a:xfrm>
            <a:off x="1379374" y="419877"/>
            <a:ext cx="9433249" cy="1296955"/>
          </a:xfrm>
          <a:prstGeom prst="roundRect">
            <a:avLst/>
          </a:prstGeom>
          <a:solidFill>
            <a:srgbClr val="21486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/>
              <a:t>Em quais áreas pode ser utilizado?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CE266AC-0C85-420B-A935-5AF435F55CAE}"/>
              </a:ext>
            </a:extLst>
          </p:cNvPr>
          <p:cNvSpPr txBox="1"/>
          <p:nvPr/>
        </p:nvSpPr>
        <p:spPr>
          <a:xfrm>
            <a:off x="735563" y="2155372"/>
            <a:ext cx="1072087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Corretoras ou consultorias financeiras: Para registrar perfis de clientes e acompanhar seus objetivos e nível de experiência.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Plataformas de investimento: Para personalizar recomendações de produtos financeiros com base no perfil do investidor.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Treinamento ou aprendizado: Para estudantes ou profissionais que desejam praticar desenvolvimento de sistemas CRUD com banco de dados e interfaces gráficas.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Gestão interna de carteiras: Pequenas empresas podem usar para organizar dados de clientes e seus perfis de investimento.</a:t>
            </a:r>
          </a:p>
        </p:txBody>
      </p:sp>
    </p:spTree>
    <p:extLst>
      <p:ext uri="{BB962C8B-B14F-4D97-AF65-F5344CB8AC3E}">
        <p14:creationId xmlns:p14="http://schemas.microsoft.com/office/powerpoint/2010/main" val="21019011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308</Words>
  <Application>Microsoft Office PowerPoint</Application>
  <PresentationFormat>Widescreen</PresentationFormat>
  <Paragraphs>56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Aluno</dc:creator>
  <cp:lastModifiedBy>Aluno</cp:lastModifiedBy>
  <cp:revision>2</cp:revision>
  <dcterms:created xsi:type="dcterms:W3CDTF">2025-11-26T23:42:53Z</dcterms:created>
  <dcterms:modified xsi:type="dcterms:W3CDTF">2025-11-27T00:27:02Z</dcterms:modified>
</cp:coreProperties>
</file>